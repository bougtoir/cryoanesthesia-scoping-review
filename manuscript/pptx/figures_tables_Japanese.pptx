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サプライチェーンの混乱時における</a:t>
            </a:r>
            <a:br/>
            <a:r>
              <a:t>局所麻酔薬の代替としての冷凍麻酔：</a:t>
            </a:r>
            <a:br/>
            <a:r>
              <a:t>スコーピングレビュー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030A0"/>
                </a:solidFill>
              </a:defRPr>
            </a:pPr>
            <a:r>
              <a:t>図表 — 日本語版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[著者] | [所属]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図1. PRISMA-ScRフローダイアグラム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4114800" cy="64008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データベース検索で</a:t>
            </a:r>
            <a:br/>
            <a:r>
              <a:t>特定されたレコード (n=1498)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72200" y="1371600"/>
            <a:ext cx="0" cy="27432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0" y="169164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重複除去後のレコード</a:t>
            </a:r>
            <a:br/>
            <a:r>
              <a:t>(n=1247)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72200" y="2240280"/>
            <a:ext cx="0" cy="27432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560320"/>
            <a:ext cx="4114800" cy="54864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スクリーニングされた</a:t>
            </a:r>
            <a:br/>
            <a:r>
              <a:t>レコード (n=1247)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560320"/>
            <a:ext cx="2743200" cy="54864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除外された</a:t>
            </a:r>
            <a:br/>
            <a:r>
              <a:t>レコード (n=1113)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0" y="2834640"/>
            <a:ext cx="457200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3108960"/>
            <a:ext cx="0" cy="27432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0" y="3429000"/>
            <a:ext cx="4114800" cy="54864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適格性評価された</a:t>
            </a:r>
            <a:br/>
            <a:r>
              <a:t>全文論文 (n=134)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246120"/>
            <a:ext cx="3017520" cy="137160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t>除外された全文論文 (n=87)</a:t>
            </a:r>
            <a:br/>
            <a:r>
              <a:t>• LAとの直接比較なし (n=41)</a:t>
            </a:r>
            <a:br/>
            <a:r>
              <a:t>• データ重複 (n=12)</a:t>
            </a:r>
            <a:br/>
            <a:r>
              <a:t>• 学会抄録のみ (n=9)</a:t>
            </a:r>
            <a:br/>
            <a:r>
              <a:t>• 非ヒト研究 (n=6)</a:t>
            </a:r>
            <a:br/>
            <a:r>
              <a:t>• 原著データなしのレビュー (n=11)</a:t>
            </a:r>
            <a:br/>
            <a:r>
              <a:t>• その他 (n=8)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3703320"/>
            <a:ext cx="457200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3977639"/>
            <a:ext cx="0" cy="274321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0" y="429768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スコーピングレビューに</a:t>
            </a:r>
            <a:br/>
            <a:r>
              <a:t>包含された研究 (n=47)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4846320"/>
            <a:ext cx="0" cy="27432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71600" y="5166360"/>
            <a:ext cx="1645920" cy="64008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歯科</a:t>
            </a:r>
            <a:br/>
            <a:r>
              <a:t>n=14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166360"/>
            <a:ext cx="1645920" cy="64008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血管アクセス</a:t>
            </a:r>
            <a:br/>
            <a:r>
              <a:t>n=12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166360"/>
            <a:ext cx="1645920" cy="64008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胸部外科</a:t>
            </a:r>
            <a:br/>
            <a:r>
              <a:t>n=11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166360"/>
            <a:ext cx="1645920" cy="64008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整形外科</a:t>
            </a:r>
            <a:br/>
            <a:r>
              <a:t>n=6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166360"/>
            <a:ext cx="1645920" cy="640080"/>
          </a:xfrm>
          <a:prstGeom prst="roundRect">
            <a:avLst/>
          </a:prstGeom>
          <a:solidFill>
            <a:srgbClr val="D8BFD8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皮膚科</a:t>
            </a:r>
            <a:br/>
            <a:r>
              <a:t>n=4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31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同定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30A0"/>
                </a:solidFill>
              </a:defRPr>
            </a:pPr>
            <a:r>
              <a:t>スクリーニング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030A0"/>
                </a:solidFill>
              </a:defRPr>
            </a:pPr>
            <a:r>
              <a:t>適格性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包含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図2. エビデンスマップ：臨床領域別の冷凍麻酔モダリティ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7315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表面冷却</a:t>
            </a:r>
            <a:br/>
            <a:r>
              <a:t>（氷）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7315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気化冷却</a:t>
            </a:r>
            <a:br/>
            <a:r>
              <a:t>スプレー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7315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クライオプローブ/</a:t>
            </a:r>
            <a:br/>
            <a:r>
              <a:t>経皮的クライオ</a:t>
            </a:r>
            <a:br/>
            <a:r>
              <a:t>ニューロリシス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歯科・口腔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血管アクセス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胸部外科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整形外科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2011680" cy="731520"/>
          </a:xfrm>
          <a:prstGeom prst="roundRect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皮膚科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459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</a:t>
            </a:r>
            <a:br/>
            <a:r>
              <a:t>非劣性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</a:t>
            </a:r>
            <a:br/>
            <a:r>
              <a:t>混合結果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459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</a:t>
            </a:r>
            <a:br/>
            <a:r>
              <a:t>有効（成人）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4747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4 RCT</a:t>
            </a:r>
            <a:br/>
            <a:r>
              <a:t>vs オピオイド</a:t>
            </a:r>
            <a:br/>
            <a:r>
              <a:t>*1 vs LA神経ブロック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389120"/>
            <a:ext cx="2011680" cy="73152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</a:t>
            </a:r>
            <a:br/>
            <a:r>
              <a:t>パイロットデータ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3035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</a:t>
            </a:r>
            <a:br/>
            <a:r>
              <a:t>非劣性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</a:defRPr>
            </a:pPr>
            <a:r>
              <a:t>緑 = 強いエビデンス  |  黄 = 中等/混合  |  赤 = パイロット/限定的  |  灰 = エビデンスなし  |  * = 重要なギャップ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表1. 臨床領域別の包含研究の概要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731520"/>
                <a:gridCol w="731520"/>
                <a:gridCol w="731520"/>
                <a:gridCol w="731520"/>
                <a:gridCol w="51206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臨床領域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総数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RCT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コホート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ケースシリーズ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主なモダリティ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歯科・口腔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氷、エチルクロライドスプレー、冷却LA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血管アクセス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気化冷却スプレー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胸部外科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クライオプローブ、経皮的クライオニューロリシス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整形外科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経皮的クライオニューロリシス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皮膚科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氷嚢、クライオジェル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合計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表2. 歯科研究の特性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640080"/>
                <a:gridCol w="2011680"/>
                <a:gridCol w="1645920"/>
                <a:gridCol w="3749039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研究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デザイン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冷凍麻酔法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比較対照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主要知見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Rai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RCT（スプリットマウス）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アイススティック (2分)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20%ベンゾカイン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非劣性 (VAS 11 vs 10; P=0.955)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Abbasi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エチルクロライドスプレー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5%リドカインゲル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冷凍麻酔優位 (P&lt;0.05)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Chilakamuri 2020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RCT（クロスオーバー）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アイスペンシル (2分)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5%リグノカインゲル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非劣性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Hindocha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RCT（クロスオーバー）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氷 (2分)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5%リドカインゲル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同等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Peedikayil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RCT（スプリットマウス）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クライオスプレー + IANB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IANB単独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補助的使用優位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Sci Rep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RCT（二重盲検）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冷却LA (4-5°C)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室温LA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100% vs 80% (P&lt;0.001)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表3. 局所麻酔薬不足時の冷凍麻酔導入階層化フレームワーク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2286000"/>
                <a:gridCol w="301752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ティア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臨床応用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モダリティ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エビデンスレベル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導入準備状況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1（強）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歯科注射前鎮痛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氷 (2分)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複数RCT、SR 3件；局所麻酔薬に非劣性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即時導入可能；特殊機器不要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1（強）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成人静脈穿刺/IVカニュレーション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気化冷却スプレー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SR/MA (25 RCT)；成人で有効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即時導入可能；広く入手可能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2（中）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レーザー脱毛/皮膚科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氷嚢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RCT；EMLAと同等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検証必要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2（中）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胸部外科後鎮痛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肋間クライオニューロリシス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SR, 4 RCT；オピオイド削減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機器依存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3（研究）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末梢神経ブロック代替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経皮的クライオニューロリシス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2パイロットRCT；有望だが限定的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USガイド、専門家トレーニング必要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3（研究）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小手術（創傷閉鎖、生検）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氷/気化冷却スプレー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直接エビデンスなし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臨床試験必要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表4. 投稿先ジャーナル比較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"/>
                <a:gridCol w="1828800"/>
                <a:gridCol w="914400"/>
                <a:gridCol w="731520"/>
                <a:gridCol w="548640"/>
                <a:gridCol w="182880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ジャーナル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IF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記事タイプ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語数制限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参考文献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図表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スコープ適合性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APC (USD)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British Journal of Anaesthesia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システマティックレビュー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直接的（麻酔）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Anaesthesia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スコーピングレビュー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直接的（麻酔）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BMJ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分析/研究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3000-4000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30-40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医療政策角度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~4500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BMJ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スコーピングレビュー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制限なし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制限なし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制限なし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幅広い医学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Anesthesiology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システマティックレビュー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直接的（麻酔）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システマティックレビュー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クライオ焦点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Pharmacoepidemiol Drug Saf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スコーピングレビュー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サプライチェーン焦点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