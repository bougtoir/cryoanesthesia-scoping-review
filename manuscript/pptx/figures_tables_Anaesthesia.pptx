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Anaesthesia — Figures &amp;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3B6F"/>
                </a:solidFill>
              </a:rPr>
              <a:t>Ice age for anaesthesia:
a scoping review of cryoanalgesia as patient safety insurance
against local anaesthetic shortages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34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333333"/>
                </a:solidFill>
              </a:rPr>
              <a:t>A Scoping Review
Anaesthesia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Figure 1. PRISMA-ScR Flow Diagram</a:t>
            </a:r>
          </a:p>
        </p:txBody>
      </p:sp>
      <p:pic>
        <p:nvPicPr>
          <p:cNvPr id="3" name="Picture 2" descr="figure1_prism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484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8521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333333"/>
                </a:solidFill>
              </a:rPr>
              <a:t>Figure 1. Study selection process: 1247 → 134 → 47 studies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Figure 2. Evidence Map</a:t>
            </a:r>
          </a:p>
        </p:txBody>
      </p:sp>
      <p:pic>
        <p:nvPicPr>
          <p:cNvPr id="3" name="Picture 2" descr="figure2_evidenc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484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8521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333333"/>
                </a:solidFill>
              </a:rPr>
              <a:t>Figure 2. Cryoanalgesic modalities vs local anaesthetic comparators by clinical domain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Table 1. Summary of Included Studies by Clinical Domain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8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Clinical domain</a:t>
                      </a:r>
                    </a:p>
                  </a:txBody>
                  <a:tcPr anchor="ctr"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RCTs</a:t>
                      </a:r>
                    </a:p>
                  </a:txBody>
                  <a:tcPr anchor="ctr"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SR/MA</a:t>
                      </a:r>
                    </a:p>
                  </a:txBody>
                  <a:tcPr anchor="ctr"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Cohort</a:t>
                      </a:r>
                    </a:p>
                  </a:txBody>
                  <a:tcPr anchor="ctr"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Case series</a:t>
                      </a:r>
                    </a:p>
                  </a:txBody>
                  <a:tcPr anchor="ctr"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 cryoanalgesic modalities</a:t>
                      </a:r>
                    </a:p>
                  </a:txBody>
                  <a:tcPr anchor="ctr"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Implementation readiness</a:t>
                      </a:r>
                    </a:p>
                  </a:txBody>
                  <a:tcPr anchor="ctr">
                    <a:solidFill>
                      <a:srgbClr val="003B6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Dental/oral procedures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Ice, ethyl chloride spray, cooled LA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Vascular access procedures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Vapocoolant spray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Thoracic surgery/chest wall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Cryoprobe, percutaneous cryoneurolysis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Orthopaedic surgery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Percutaneous cryoneurolysis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Dermatological procedures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Ice packs, cryogel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Table 2. Clinical Preparedness Protocol: A Patient Safety Framework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430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509"/>
                <a:gridCol w="1940509"/>
                <a:gridCol w="1940509"/>
                <a:gridCol w="1940509"/>
                <a:gridCol w="1940509"/>
                <a:gridCol w="194051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Shortage severity</a:t>
                      </a:r>
                    </a:p>
                  </a:txBody>
                  <a:tcPr anchor="ctr"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Patient safety impact</a:t>
                      </a:r>
                    </a:p>
                  </a:txBody>
                  <a:tcPr anchor="ctr"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Cryoanalgesic response</a:t>
                      </a:r>
                    </a:p>
                  </a:txBody>
                  <a:tcPr anchor="ctr"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 anchor="ctr"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Requirements</a:t>
                      </a:r>
                    </a:p>
                  </a:txBody>
                  <a:tcPr anchor="ctr"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Cost/procedure</a:t>
                      </a:r>
                    </a:p>
                  </a:txBody>
                  <a:tcPr anchor="ctr">
                    <a:solidFill>
                      <a:srgbClr val="003B6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Stage 1: Mild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(Some formulations limited)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Minor delays;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increased discomfort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Ice (dental)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Vapocoolant (venepuncture)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11 RCTs + 3 SRs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25 RCTs (adults)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Nil (ice)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Spray canister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~$0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~$0.50–$2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Stage 2: Moderate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(Multiple agents unavailable)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Procedure cancellations;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substitution errors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Ice packs (dermatology)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Intercostal cryoneurolysis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 RCTs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24 RCTs (MA)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Ice packs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Cryoprobe + training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~$0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~$50–$200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Stage 3: Severe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(Injectable LA unavailable)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Major surgical delays;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opioid dependence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Percutaneous cryoneurolysis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(rib fractures, TKA)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 landmark RCT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 pilot RCTs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Device + US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+ training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~$200–$500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Stage 4: Complete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(All LA supply exhausted)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Emergency/disaster-level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care disruption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All available cryotherapy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Tiered per above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Expert opinion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Extrapolation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Ice only (minimum)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$0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Table 3. Clinical Scenarios: Preventing Patient Harm During Shortages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430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509"/>
                <a:gridCol w="1940509"/>
                <a:gridCol w="1940509"/>
                <a:gridCol w="1940509"/>
                <a:gridCol w="1940509"/>
                <a:gridCol w="194051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Setting</a:t>
                      </a:r>
                    </a:p>
                  </a:txBody>
                  <a:tcPr anchor="ctr"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Patient safety threat</a:t>
                      </a:r>
                    </a:p>
                  </a:txBody>
                  <a:tcPr anchor="ctr"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Conventional approach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(unavailable)</a:t>
                      </a:r>
                    </a:p>
                  </a:txBody>
                  <a:tcPr anchor="ctr"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Cryoanalgesic contingency</a:t>
                      </a:r>
                    </a:p>
                  </a:txBody>
                  <a:tcPr anchor="ctr"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 anchor="ctr"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Patient safety outcome</a:t>
                      </a:r>
                    </a:p>
                  </a:txBody>
                  <a:tcPr anchor="ctr">
                    <a:solidFill>
                      <a:srgbClr val="003B6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Emergency dept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(rib fractures)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Uncontrolled pain →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respiratory complications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Intercostal nerve block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with bupivacaine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US-guided percutaneous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cryoneurolysis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Finneran 2025 RCT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vs ropivacaine ICB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Pain control maintained;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complications prevented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Dental clinic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(routine procedures)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Procedure cancellation →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delayed treatment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Topical benzocaine or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lidocaine gel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Ice application to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oral mucosa (2 min)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 RCTs + 3 SRs: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non-inferior to topical LA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Continuity of care;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zero cost; immediate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Surgical theatre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(elective TKA)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Procedure cancellation →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functional decline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Adductor canal block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with ropivacaine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Preoperative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cryoneurolysis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Swisher 2022,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Radnovich 2021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Pilot data only;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research priority</a:t>
                      </a:r>
                    </a:p>
                  </a:txBody>
                  <a:tcPr anchor="t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