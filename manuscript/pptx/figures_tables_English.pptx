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Cryoanalgesia as an Alternative to Local Anaesthetic Drugs</a:t>
            </a:r>
            <a:br/>
            <a:r>
              <a:t>during Supply Chain Disruptions: A Scoping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9BD5"/>
                </a:solidFill>
              </a:defRPr>
            </a:pPr>
            <a:r>
              <a:t>Figures and Tables — Generic English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[Authors] | [Affiliations]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1. PRISMA-ScR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4114800" cy="64008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identified through</a:t>
            </a:r>
            <a:br/>
            <a:r>
              <a:t>database searching (n=1498)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72200" y="1371600"/>
            <a:ext cx="0" cy="27432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169164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after deduplication</a:t>
            </a:r>
            <a:br/>
            <a:r>
              <a:t>(n=1247)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240280"/>
            <a:ext cx="0" cy="27432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56032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screened</a:t>
            </a:r>
            <a:br/>
            <a:r>
              <a:t>(n=1247)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560320"/>
            <a:ext cx="2743200" cy="54864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excluded</a:t>
            </a:r>
            <a:br/>
            <a:r>
              <a:t>(n=1113)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0" y="2834640"/>
            <a:ext cx="457200" cy="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3108960"/>
            <a:ext cx="0" cy="27432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0" y="342900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Full-text articles assessed</a:t>
            </a:r>
            <a:br/>
            <a:r>
              <a:t>for eligibility (n=134)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246120"/>
            <a:ext cx="3017520" cy="137160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t>Full-text articles excluded (n=87)</a:t>
            </a:r>
            <a:br/>
            <a:r>
              <a:t>• No direct comparison with LA (n=41)</a:t>
            </a:r>
            <a:br/>
            <a:r>
              <a:t>• Duplicate data (n=12)</a:t>
            </a:r>
            <a:br/>
            <a:r>
              <a:t>• Conference abstract only (n=9)</a:t>
            </a:r>
            <a:br/>
            <a:r>
              <a:t>• Non-human study (n=6)</a:t>
            </a:r>
            <a:br/>
            <a:r>
              <a:t>• Review without original data (n=11)</a:t>
            </a:r>
            <a:br/>
            <a:r>
              <a:t>• Other (n=8)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3703320"/>
            <a:ext cx="457200" cy="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3977639"/>
            <a:ext cx="0" cy="274321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429768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Studies included in</a:t>
            </a:r>
            <a:br/>
            <a:r>
              <a:t>scoping review (n=47)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846320"/>
            <a:ext cx="0" cy="27432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Dental</a:t>
            </a:r>
            <a:br/>
            <a:r>
              <a:t>n=14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Vascular</a:t>
            </a:r>
            <a:br/>
            <a:r>
              <a:t>n=12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Thoracic</a:t>
            </a:r>
            <a:br/>
            <a:r>
              <a:t>n=11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Orthopaedic</a:t>
            </a:r>
            <a:br/>
            <a:r>
              <a:t>n=6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Dermatology</a:t>
            </a:r>
            <a:br/>
            <a:r>
              <a:t>n=4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31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9BD5"/>
                </a:solidFill>
              </a:defRPr>
            </a:pPr>
            <a:r>
              <a:t>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9BD5"/>
                </a:solidFill>
              </a:defRPr>
            </a:pPr>
            <a:r>
              <a:t>Eligibility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2. Evidence Map: Cryoanalgesic Modalities by Clinical 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315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Surface cooling</a:t>
            </a:r>
            <a:br/>
            <a:r>
              <a:t>(ice)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7315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Vapocoolant</a:t>
            </a:r>
            <a:br/>
            <a:r>
              <a:t>spray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7315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Cryoprobe /</a:t>
            </a:r>
            <a:br/>
            <a:r>
              <a:t>Percutaneous</a:t>
            </a:r>
            <a:br/>
            <a:r>
              <a:t>cryoneurolysis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Dental/oral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Vascular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Thoracic surgery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Orthopaedic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2011680" cy="73152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Dermatology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NON-INFERIOR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MIXED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EFFECTIVE</a:t>
            </a:r>
            <a:br/>
            <a:r>
              <a:t>(adults)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4747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4 RCTs</a:t>
            </a:r>
            <a:br/>
            <a:r>
              <a:t>vs OPIOIDS</a:t>
            </a:r>
            <a:br/>
            <a:r>
              <a:t>*1 vs LA NB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389120"/>
            <a:ext cx="2011680" cy="73152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PILOT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3035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NON-INFERIOR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</a:defRPr>
            </a:pPr>
            <a:r>
              <a:t>Green = strong evidence (non-inferior/effective)  |  Yellow = moderate/mixed  |  Red = pilot/limited  |  Grey = no evidence  |  * = critical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1. Summary of Included Studies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731520"/>
                <a:gridCol w="731520"/>
                <a:gridCol w="731520"/>
                <a:gridCol w="731520"/>
                <a:gridCol w="51206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Modalities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Dental/oral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Ice, ethyl chloride spray, cooled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Vascular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spray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Thoracic 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Cryoprobe, percutaneous cryoneurolysis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Orthopaedic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Percutaneous cryoneurolysis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Dermatology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packs, cryogel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2. Dental/Oral Procedure Study Characteristics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640080"/>
                <a:gridCol w="1645920"/>
                <a:gridCol w="1371600"/>
                <a:gridCol w="73152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 Modality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Comparator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Rai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stick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20% benzocaine 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 (11 vs 10; P=0.955)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Abbasi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Ethyl chloride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lidocaine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 superior (P&lt;0.05)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Chilakamuri 2020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(crossover)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pencil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lignocaine 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Hindocha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(crossover)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(2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lidocaine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Lakshmanan 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20% benzocaine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Peedikayil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 spray + IANB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IANB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Adjunct superior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Sci Rep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(double-blind)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Cooled LA (4-5°C)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Room-temp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HP-VAS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100% vs 80% (P&lt;0.001)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Tirupathi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Pre-cooling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4/5 favoured pre-cooling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Amrollahi 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Pre-cooling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Pain scores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Supports pre-cooling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Honaje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Pooled: equivalent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3. Tiered Implementation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2011680"/>
                <a:gridCol w="30175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Clinical Application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 Level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Readiness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 pre-injection analgesia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Multiple RCTs, 3 SRs; non-inferior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Immediate; no special equipment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Adult venepuncture/IV cannulation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 (25 RCTs); effective in 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Immediate; widely available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Laser hair removal/dermatology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RCT; comparable to EMLA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Feasible; requires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Post-thoracotomy/VATS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Intercostal cryoneurolysis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SRs, 4 RCTs; reduces opioid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Equipment-dependent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(Research)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Peripheral nerve block alternative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Percutaneous cryoneurolysis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pilot RCTs; promising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Requires US, specialist 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(Research)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Minor surgical 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Ice/vapocoolant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direct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Clinical trials needed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4. Target Journal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1645920"/>
                <a:gridCol w="914400"/>
                <a:gridCol w="731520"/>
                <a:gridCol w="731520"/>
                <a:gridCol w="182880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Journal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Article Type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Word Limit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Ref Limit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Fig/Tab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Scope Fit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APC (USD)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British Journal of Anaesthesia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Anaesthesia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Scoping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3000-4000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30-40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Policy angle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~4500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Scoping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Anesthesiology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Pharmacoepidemiol Drug Saf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Scoping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Supply chain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