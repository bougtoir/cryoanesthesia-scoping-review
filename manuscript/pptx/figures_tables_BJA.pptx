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Cryoanalgesia as an Alternative to Local Anaesthetic Drugs</a:t>
            </a:r>
            <a:br/>
            <a:r>
              <a:t>during Supply Chain Disruptions: A Scoping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472C4"/>
                </a:solidFill>
              </a:defRPr>
            </a:pPr>
            <a:r>
              <a:t>Figures and Tables — BJA 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80"/>
                </a:solidFill>
              </a:defRPr>
            </a:pPr>
            <a:r>
              <a:t>[Authors] | [Affiliations]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Figure 1. PRISMA-ScR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731520"/>
            <a:ext cx="4114800" cy="64008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identified through</a:t>
            </a:r>
            <a:br/>
            <a:r>
              <a:t>database searching (n=1498)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72200" y="137160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0" y="169164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after deduplication</a:t>
            </a:r>
            <a:br/>
            <a:r>
              <a:t>(n=1247)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172200" y="224028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0" y="2560320"/>
            <a:ext cx="4114800" cy="5486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screened</a:t>
            </a:r>
            <a:br/>
            <a:r>
              <a:t>(n=1247)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560320"/>
            <a:ext cx="2743200" cy="54864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Records excluded</a:t>
            </a:r>
            <a:br/>
            <a:r>
              <a:t>(n=1113)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9600" y="2834640"/>
            <a:ext cx="4572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72200" y="310896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114800" y="3429000"/>
            <a:ext cx="4114800" cy="548640"/>
          </a:xfrm>
          <a:prstGeom prst="roundRect">
            <a:avLst/>
          </a:prstGeom>
          <a:solidFill>
            <a:srgbClr val="BDD7EE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Full-text articles assessed</a:t>
            </a:r>
            <a:br/>
            <a:r>
              <a:t>for eligibility (n=134)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3246120"/>
            <a:ext cx="3017520" cy="137160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>
                <a:solidFill>
                  <a:srgbClr val="000000"/>
                </a:solidFill>
              </a:defRPr>
            </a:pPr>
            <a:r>
              <a:t>Full-text articles excluded (n=87)</a:t>
            </a:r>
            <a:br/>
            <a:r>
              <a:t>• No direct comparison with LA (n=41)</a:t>
            </a:r>
            <a:br/>
            <a:r>
              <a:t>• Duplicate data (n=12)</a:t>
            </a:r>
            <a:br/>
            <a:r>
              <a:t>• Conference abstract only (n=9)</a:t>
            </a:r>
            <a:br/>
            <a:r>
              <a:t>• Non-human study (n=6)</a:t>
            </a:r>
            <a:br/>
            <a:r>
              <a:t>• Review without original data (n=11)</a:t>
            </a:r>
            <a:br/>
            <a:r>
              <a:t>• Other (n=8)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3703320"/>
            <a:ext cx="457200" cy="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2200" y="3977639"/>
            <a:ext cx="0" cy="274321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0" y="4297680"/>
            <a:ext cx="4114800" cy="54864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548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</a:defRPr>
            </a:pPr>
            <a:r>
              <a:t>Studies included in</a:t>
            </a:r>
            <a:br/>
            <a:r>
              <a:t>scoping review (n=47)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4846320"/>
            <a:ext cx="0" cy="274320"/>
          </a:xfrm>
          <a:prstGeom prst="line">
            <a:avLst/>
          </a:prstGeom>
          <a:ln w="2540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7160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Dental</a:t>
            </a:r>
            <a:br/>
            <a:r>
              <a:t>n=14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Vascular</a:t>
            </a:r>
            <a:br/>
            <a:r>
              <a:t>n=12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9496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Thoracic</a:t>
            </a:r>
            <a:br/>
            <a:r>
              <a:t>n=11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Orthopaedic</a:t>
            </a:r>
            <a:br/>
            <a:r>
              <a:t>n=6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5166360"/>
            <a:ext cx="1645920" cy="640080"/>
          </a:xfrm>
          <a:prstGeom prst="roundRect">
            <a:avLst/>
          </a:prstGeom>
          <a:solidFill>
            <a:srgbClr val="B4C6E7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Dermatology</a:t>
            </a:r>
            <a:br/>
            <a:r>
              <a:t>n=4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731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Identification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472C4"/>
                </a:solidFill>
              </a:defRPr>
            </a:pPr>
            <a:r>
              <a:t>Screening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3429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472C4"/>
                </a:solidFill>
              </a:defRPr>
            </a:pPr>
            <a:r>
              <a:t>Eligibility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4297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48235"/>
                </a:solidFill>
              </a:defRPr>
            </a:pPr>
            <a:r>
              <a:t>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Figure 2. Evidence Map: Cryoanalgesic Modalities by Clinical Domain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7315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Surface cooling</a:t>
            </a:r>
            <a:br/>
            <a:r>
              <a:t>(ice)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7315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Vapocoolant</a:t>
            </a:r>
            <a:br/>
            <a:r>
              <a:t>spray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78240" y="7315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Cryoprobe /</a:t>
            </a:r>
            <a:br/>
            <a:r>
              <a:t>Percutaneous</a:t>
            </a:r>
            <a:br/>
            <a:r>
              <a:t>cryoneurolysis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6459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Dental/oral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5603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Vascular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Thoracic surgery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Orthopaedic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5303520"/>
            <a:ext cx="2011680" cy="731520"/>
          </a:xfrm>
          <a:prstGeom prst="roundRect">
            <a:avLst/>
          </a:prstGeom>
          <a:solidFill>
            <a:srgbClr val="4472C4"/>
          </a:solidFill>
          <a:ln w="190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Dermatology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16459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RCTs</a:t>
            </a:r>
            <a:br/>
            <a:r>
              <a:t>NON-INFERIOR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MIXED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16459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5603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7 RCTs</a:t>
            </a:r>
            <a:br/>
            <a:r>
              <a:t>EFFECTIVE</a:t>
            </a:r>
            <a:br/>
            <a:r>
              <a:t>(adults)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40" y="25603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4747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3474720"/>
            <a:ext cx="2011680" cy="731520"/>
          </a:xfrm>
          <a:prstGeom prst="roundRect">
            <a:avLst/>
          </a:prstGeom>
          <a:solidFill>
            <a:srgbClr val="FFF2CC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4 RCTs</a:t>
            </a:r>
            <a:br/>
            <a:r>
              <a:t>vs OPIOIDS</a:t>
            </a:r>
            <a:br/>
            <a:r>
              <a:t>*1 vs LA NB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3891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4389120"/>
            <a:ext cx="2011680" cy="731520"/>
          </a:xfrm>
          <a:prstGeom prst="roundRect">
            <a:avLst/>
          </a:prstGeom>
          <a:solidFill>
            <a:srgbClr val="FFD9D9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PILOT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5303520"/>
            <a:ext cx="2011680" cy="731520"/>
          </a:xfrm>
          <a:prstGeom prst="roundRect">
            <a:avLst/>
          </a:prstGeom>
          <a:solidFill>
            <a:srgbClr val="C6E0B4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3 RCTs</a:t>
            </a:r>
            <a:br/>
            <a:r>
              <a:t>NON-INFERIOR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40" y="5303520"/>
            <a:ext cx="2011680" cy="73152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00000"/>
                </a:solidFill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464"/>
                </a:solidFill>
              </a:defRPr>
            </a:pPr>
            <a:r>
              <a:t>Green = strong evidence (non-inferior/effective)  |  Yellow = moderate/mixed  |  Red = pilot/limited  |  Grey = no evidence  |  * = critical gap: only 1 RCT vs LA nerve 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1. Summary of Included Studies by Clinical Domain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731520"/>
                <a:gridCol w="731520"/>
                <a:gridCol w="731520"/>
                <a:gridCol w="731520"/>
                <a:gridCol w="512064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Clinical Domain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Total Studies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RCTs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SR/MA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Cohort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Case Series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Cryoanalgesic Modalities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Dental/oral procedures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Ice, ethyl chloride spray, cooled LA solution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Vascular access 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Vapocoolant spray (ethyl chloride, tetrafluoroethane)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Thoracic surgery/chest wall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Cryoprobe, percutaneous cryoneurolysis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Orthopaedic 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Percutaneous cryoneurolysis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Dermatological procedures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packs, cryogel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2. Characteristics of Dental/Oral Procedure Studies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640080"/>
                <a:gridCol w="1645920"/>
                <a:gridCol w="1371600"/>
                <a:gridCol w="73152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Study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 Modality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Comparator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Rai 2024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(split-mouth)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stick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20% benzocaine gel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Non-inferior (11 vs 10; P=0.955)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Abbasi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Ethyl chloride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 lidocaine 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 superior (P&lt;0.05)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Chilakamuri 2020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(crossover)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pencil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 lignocaine gel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Non-inferior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Hindocha 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(crossover)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(2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5% lidocaine 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Equivalent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Lakshmanan 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(split-mouth)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pack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20% benzocaine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Non-inferior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Peedikayil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(split-mouth)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 spray + IANB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IANB alone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Adjunct superior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Sci Rep 2025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RCT (double-blind)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Cooled LA (4-5°C)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Room-temp 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HP-VAS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100% vs 80% (P&lt;0.001)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Tirupathi 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Pre-cooling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Topical 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4/5 favoured pre-cooling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Amrollahi 2021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Multiple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Pre-cooling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Topical 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Pain scores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Supports pre-cooling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Honaje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SR/MA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Topical LA gel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Pooled: equivalent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3. Tiered Framework for Cryoanalgesia Implementation During LA Shortages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2011680"/>
                <a:gridCol w="3017520"/>
                <a:gridCol w="25603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Clinical Application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Cryoanalgesic Modality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Evidence Level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Implementation Readiness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(Strong)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Dental pre-injection analgesia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application (2 min)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Multiple RCTs, 3 SRs; non-inferior to topical 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Immediate; no special equipment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(Strong)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Adult venepuncture/IV cannulation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Vapocoolant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SR/MA (25 RCTs); effective in adults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Immediate; widely available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(Moderate)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Laser hair removal/dermatology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 packs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 RCT; comparable to EMLA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Feasible; requires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(Moderate)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Post-thoracotomy/VATS analgesia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Intercostal cryoneurolysis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SRs, 4 RCTs; reduces opioid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Equipment-dependent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 (Research)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Peripheral nerve block alternative (TKA, rib fracture)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Percutaneous cryoneurolysis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 pilot RCTs; promising but limited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Requires US guidance, specialist training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 (Research)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Minor surgical procedures (wound closure, biopsy)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Ice/vapocoolant spray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direct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Clinical trials needed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</a:defRPr>
            </a:pPr>
            <a:r>
              <a:t>Table 4. Target Journal Comparison for Manuscript Submission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9601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48640"/>
                <a:gridCol w="1828800"/>
                <a:gridCol w="914400"/>
                <a:gridCol w="731520"/>
                <a:gridCol w="731520"/>
                <a:gridCol w="1828800"/>
                <a:gridCol w="731520"/>
              </a:tblGrid>
              <a:tr h="36576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Journal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IF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Article 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Word Limit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Ref Limit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Tables/Fig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Scope Fit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APC (USD)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British Journal of Anaesthesia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Direct (anaesthesia)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Anaesthesia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Systematic/Scoping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Direct (anaesthesia)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BMJ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93.6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Analysis/Research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3000-4000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30-40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4-6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Health policy angle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~4500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BMJ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Systematic/Scoping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No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Broad medical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~2200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Anesthesiology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8.8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Direct (anaesthesia)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RAPM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9.3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Systematic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Cryoneurolysis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~3500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Pharmacoepidemiol Drug Saf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Scoping Review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4000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Supply chain focus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/>
                      </a:pPr>
                      <a:r>
                        <a:t>~2800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