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BMJ Quality &amp; Safety — Figures &amp;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6B6B"/>
                </a:solidFill>
              </a:rPr>
              <a:t>Drug-free local anaesthesia as a patient safety strategy:
Cryoanalgesia during pharmaceutical supply chain disruptions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333333"/>
                </a:solidFill>
              </a:rPr>
              <a:t>A Scoping Review
BMJ Quality &amp;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Figure 1. PRISMA-ScR Flow Diagram</a:t>
            </a:r>
          </a:p>
        </p:txBody>
      </p:sp>
      <p:pic>
        <p:nvPicPr>
          <p:cNvPr id="3" name="Picture 2" descr="figure1_prism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Figure 1. Study selection process: 1247 → 134 → 47 studies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Figure 2. Evidence Map</a:t>
            </a:r>
          </a:p>
        </p:txBody>
      </p:sp>
      <p:pic>
        <p:nvPicPr>
          <p:cNvPr id="3" name="Picture 2" descr="figure2_evidenc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4849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8521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>
                <a:solidFill>
                  <a:srgbClr val="333333"/>
                </a:solidFill>
              </a:rPr>
              <a:t>Figure 2. Cryoanalgesic modalities vs local anaesthetic comparators by clinical domain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1. Summary of Included Studies by Clinical Domain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1"/>
                <a:gridCol w="1409668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RCTs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Cohort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Case series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cryoanalgesic modalities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readiness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Dental/oral procedures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Ice, ethyl chloride spray, cooled LA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Vascular access procedures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Vapocoolant spray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Thoracic surgery/chest wall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Cryoprobe, percutaneous cryoneurolysis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Orthopaedic surgery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Dermatological procedures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Ice packs, cryogel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47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2. Clinical Preparedness Protocol: A Patient Safety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0058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Shortage severity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impact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Cryoanalgesic response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Requirements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Cost/procedure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1: Mild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(Some formulations limited)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Minor delays;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increased discomfort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(dental)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Vapocoolant (venepuncture)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11 RCTs + 3 SRs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25 RCTs (adults)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Nil (ice)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Spray canister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~$0.50–$2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2: Moderate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(Multiple agents unavailable)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substitution errors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packs (dermatology)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Intercostal cryoneurolysis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3 RCTs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24 RCTs (MA)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packs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Cryoprobe + training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~$50–$200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3: Severe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(Injectable LA unavailable)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Major surgical delays;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opioid dependence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cryoneurolysis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(rib fractures, TKA)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1 landmark 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2 pilot RCTs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Device + US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+ training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~$200–$500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Stage 4: Complete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(All LA supply exhausted)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Emergency/disaster-level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care disruption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All available cryotherapy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Tiered per above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Expert opinion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Extrapolation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only (minimum)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3. Clinical Scenarios: Preventing Patient Harm During Shortages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0509"/>
                <a:gridCol w="1940509"/>
                <a:gridCol w="1940509"/>
                <a:gridCol w="1940509"/>
                <a:gridCol w="1940509"/>
                <a:gridCol w="1940510"/>
              </a:tblGrid>
              <a:tr h="12573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threat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Conventional approach</a:t>
                      </a:r>
                    </a:p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(unavailable)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Cryoanalgesic contingency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outcome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Emergency dept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(rib fractures)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Uncontrolled pain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respiratory complications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Intercostal nerve block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with bupivacaine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US-guided percutaneous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cryoneurolysis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Finneran 2025 RCT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vs ropivacaine ICB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Pain control maintained;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complications prevented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Dental clinic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(routine procedures)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delayed treatment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Topical benzocaine or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lidocaine gel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Ice application to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oral mucosa (2 min)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7 RCTs + 3 SRs: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non-inferior to topical LA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Continuity of care;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zero cost; immediate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Surgical theatre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(elective TKA)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 →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functional decline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Adductor canal block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with ropivacaine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Preoperative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cryoneurolysis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Swisher 2022,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Radnovich 2021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Pilot data only;</a:t>
                      </a:r>
                    </a:p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research priority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Table 4. Patient Safety Impact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1164305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293"/>
                <a:gridCol w="1663293"/>
                <a:gridCol w="1663293"/>
                <a:gridCol w="1663293"/>
                <a:gridCol w="1663293"/>
                <a:gridCol w="1663293"/>
                <a:gridCol w="1663297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Procedures affected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Patient safety risk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Cryo alternative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Evidence strength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Readiness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006B6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Dental/oral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(14 studies)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Injections, restorations,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extractions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Cancellation;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inadequate analgesia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(2 min)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Ethyl chloride spray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Strong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(11 RCTs, 3 SRs)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Immediate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Vascular access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(12 studies)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Venepuncture,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IV cannulation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Patient pain;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needle phobia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Vapocoolant spray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(adults only)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Strong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(25 RCTs, 4 SRs)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Immediate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&lt;$2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Thoracic surgery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(11 studies)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Post-thoracotomy;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rib fractures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Opioid dependence;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respiratory complications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Intercostal cryoneurolysis;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percutaneous cryo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(24 RCTs in MA)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Device + training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$50–$500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Orthopaedic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(6 studies)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TKA analgesia;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knee OA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Procedure cancellation;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opioid recovery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Percutaneous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cryoneurolysis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Emerging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(pilot RCTs)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Research priority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$200–$500</a:t>
                      </a:r>
                    </a:p>
                  </a:txBody>
                  <a:tcPr anchor="t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Dermatology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(4 studies)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Laser, minor surgery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Patient discomfort;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procedure avoidance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Ice packs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Cryogel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Moderate</a:t>
                      </a:r>
                    </a:p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(3 RCTs)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Immediate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$0</a:t>
                      </a:r>
                    </a:p>
                  </a:txBody>
                  <a:tcPr anchor="t">
                    <a:solidFill>
                      <a:srgbClr val="E0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