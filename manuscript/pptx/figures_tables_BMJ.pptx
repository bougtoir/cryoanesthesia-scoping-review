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Cryoanalgesia as a Drug-Free Alternative</a:t>
            </a:r>
            <a:br/>
            <a:r>
              <a:t>during Local Anaesthetic Supply Chain Disruptions:</a:t>
            </a:r>
            <a:br/>
            <a:r>
              <a:t>A Scoping Review and Policy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703C"/>
                </a:solidFill>
              </a:defRPr>
            </a:pPr>
            <a:r>
              <a:t>Figures and Tables — BMJ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</a:defRPr>
            </a:pPr>
            <a:r>
              <a:t>[Authors] | [Affiliations]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Figure 1. PRISMA-ScR 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731520"/>
            <a:ext cx="4114800" cy="64008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Records identified through</a:t>
            </a:r>
            <a:br/>
            <a:r>
              <a:t>database searching (n=1498)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72200" y="1371600"/>
            <a:ext cx="0" cy="27432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114800" y="1691640"/>
            <a:ext cx="4114800" cy="54864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Records after deduplication</a:t>
            </a:r>
            <a:br/>
            <a:r>
              <a:t>(n=1247)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72200" y="2240280"/>
            <a:ext cx="0" cy="27432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0" y="2560320"/>
            <a:ext cx="4114800" cy="5486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Records screened</a:t>
            </a:r>
            <a:br/>
            <a:r>
              <a:t>(n=1247)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560320"/>
            <a:ext cx="2743200" cy="548640"/>
          </a:xfrm>
          <a:prstGeom prst="roundRect">
            <a:avLst/>
          </a:prstGeom>
          <a:solidFill>
            <a:srgbClr val="FFD9D9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Records excluded</a:t>
            </a:r>
            <a:br/>
            <a:r>
              <a:t>(n=1113)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0" y="2834640"/>
            <a:ext cx="4572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72200" y="3108960"/>
            <a:ext cx="0" cy="27432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14800" y="3429000"/>
            <a:ext cx="4114800" cy="5486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Full-text articles assessed</a:t>
            </a:r>
            <a:br/>
            <a:r>
              <a:t>for eligibility (n=134)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3246120"/>
            <a:ext cx="3017520" cy="1188720"/>
          </a:xfrm>
          <a:prstGeom prst="roundRect">
            <a:avLst/>
          </a:prstGeom>
          <a:solidFill>
            <a:srgbClr val="FFD9D9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000000"/>
                </a:solidFill>
              </a:defRPr>
            </a:pPr>
            <a:r>
              <a:t>Full-text excluded (n=87)</a:t>
            </a:r>
            <a:br/>
            <a:r>
              <a:t>• No direct comparison (n=41)</a:t>
            </a:r>
            <a:br/>
            <a:r>
              <a:t>• Duplicate data (n=12)</a:t>
            </a:r>
            <a:br/>
            <a:r>
              <a:t>• Abstract only (n=9)</a:t>
            </a:r>
            <a:br/>
            <a:r>
              <a:t>• Non-human (n=6)</a:t>
            </a:r>
            <a:br/>
            <a:r>
              <a:t>• Other (n=19)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0" y="3703320"/>
            <a:ext cx="4572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72200" y="3977639"/>
            <a:ext cx="0" cy="274321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14800" y="4297680"/>
            <a:ext cx="4114800" cy="54864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t>Studies included (n=47)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200" y="4846320"/>
            <a:ext cx="0" cy="27432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371600" y="5166360"/>
            <a:ext cx="1645920" cy="640080"/>
          </a:xfrm>
          <a:prstGeom prst="roundRect">
            <a:avLst/>
          </a:prstGeom>
          <a:solidFill>
            <a:srgbClr val="B4C6E7"/>
          </a:solidFill>
          <a:ln w="19050">
            <a:solidFill>
              <a:srgbClr val="007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Dental</a:t>
            </a:r>
            <a:br/>
            <a:r>
              <a:t>n=14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5166360"/>
            <a:ext cx="1645920" cy="640080"/>
          </a:xfrm>
          <a:prstGeom prst="roundRect">
            <a:avLst/>
          </a:prstGeom>
          <a:solidFill>
            <a:srgbClr val="B4C6E7"/>
          </a:solidFill>
          <a:ln w="19050">
            <a:solidFill>
              <a:srgbClr val="007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Vascular</a:t>
            </a:r>
            <a:br/>
            <a:r>
              <a:t>n=12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5166360"/>
            <a:ext cx="1645920" cy="640080"/>
          </a:xfrm>
          <a:prstGeom prst="roundRect">
            <a:avLst/>
          </a:prstGeom>
          <a:solidFill>
            <a:srgbClr val="B4C6E7"/>
          </a:solidFill>
          <a:ln w="19050">
            <a:solidFill>
              <a:srgbClr val="007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Thoracic</a:t>
            </a:r>
            <a:br/>
            <a:r>
              <a:t>n=11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5166360"/>
            <a:ext cx="1645920" cy="640080"/>
          </a:xfrm>
          <a:prstGeom prst="roundRect">
            <a:avLst/>
          </a:prstGeom>
          <a:solidFill>
            <a:srgbClr val="B4C6E7"/>
          </a:solidFill>
          <a:ln w="19050">
            <a:solidFill>
              <a:srgbClr val="007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Orthopaedic</a:t>
            </a:r>
            <a:br/>
            <a:r>
              <a:t>n=6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5166360"/>
            <a:ext cx="1645920" cy="640080"/>
          </a:xfrm>
          <a:prstGeom prst="roundRect">
            <a:avLst/>
          </a:prstGeom>
          <a:solidFill>
            <a:srgbClr val="B4C6E7"/>
          </a:solidFill>
          <a:ln w="19050">
            <a:solidFill>
              <a:srgbClr val="007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Dermatology</a:t>
            </a:r>
            <a:br/>
            <a:r>
              <a:t>n=4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7315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8235"/>
                </a:solidFill>
              </a:defRPr>
            </a:pPr>
            <a:r>
              <a:t>Identification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03C"/>
                </a:solidFill>
              </a:defRPr>
            </a:pPr>
            <a:r>
              <a:t>Screening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3429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03C"/>
                </a:solidFill>
              </a:defRPr>
            </a:pPr>
            <a:r>
              <a:t>Eligibility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4297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8235"/>
                </a:solidFill>
              </a:defRPr>
            </a:pPr>
            <a:r>
              <a:t>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Figure 2. Evidence Map: Cryoanalgesic Modalities by Clinical Domain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731520"/>
            <a:ext cx="2011680" cy="731520"/>
          </a:xfrm>
          <a:prstGeom prst="roundRect">
            <a:avLst/>
          </a:prstGeom>
          <a:solidFill>
            <a:srgbClr val="00703C"/>
          </a:solidFill>
          <a:ln w="19050">
            <a:solidFill>
              <a:srgbClr val="007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Surface cooling</a:t>
            </a:r>
            <a:br/>
            <a:r>
              <a:t>(ice)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731520"/>
            <a:ext cx="2011680" cy="731520"/>
          </a:xfrm>
          <a:prstGeom prst="roundRect">
            <a:avLst/>
          </a:prstGeom>
          <a:solidFill>
            <a:srgbClr val="00703C"/>
          </a:solidFill>
          <a:ln w="19050">
            <a:solidFill>
              <a:srgbClr val="007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Vapocoolant</a:t>
            </a:r>
            <a:br/>
            <a:r>
              <a:t>spray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731520"/>
            <a:ext cx="2011680" cy="731520"/>
          </a:xfrm>
          <a:prstGeom prst="roundRect">
            <a:avLst/>
          </a:prstGeom>
          <a:solidFill>
            <a:srgbClr val="00703C"/>
          </a:solidFill>
          <a:ln w="19050">
            <a:solidFill>
              <a:srgbClr val="007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Cryoneurolysis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645920"/>
            <a:ext cx="2011680" cy="731520"/>
          </a:xfrm>
          <a:prstGeom prst="roundRect">
            <a:avLst/>
          </a:prstGeom>
          <a:solidFill>
            <a:srgbClr val="00703C"/>
          </a:solidFill>
          <a:ln w="19050">
            <a:solidFill>
              <a:srgbClr val="007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Dental/oral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560320"/>
            <a:ext cx="2011680" cy="731520"/>
          </a:xfrm>
          <a:prstGeom prst="roundRect">
            <a:avLst/>
          </a:prstGeom>
          <a:solidFill>
            <a:srgbClr val="00703C"/>
          </a:solidFill>
          <a:ln w="19050">
            <a:solidFill>
              <a:srgbClr val="007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Vascular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474720"/>
            <a:ext cx="2011680" cy="731520"/>
          </a:xfrm>
          <a:prstGeom prst="roundRect">
            <a:avLst/>
          </a:prstGeom>
          <a:solidFill>
            <a:srgbClr val="00703C"/>
          </a:solidFill>
          <a:ln w="19050">
            <a:solidFill>
              <a:srgbClr val="007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Thoracic surgery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389120"/>
            <a:ext cx="2011680" cy="731520"/>
          </a:xfrm>
          <a:prstGeom prst="roundRect">
            <a:avLst/>
          </a:prstGeom>
          <a:solidFill>
            <a:srgbClr val="00703C"/>
          </a:solidFill>
          <a:ln w="19050">
            <a:solidFill>
              <a:srgbClr val="007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Orthopaedic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303520"/>
            <a:ext cx="2011680" cy="731520"/>
          </a:xfrm>
          <a:prstGeom prst="roundRect">
            <a:avLst/>
          </a:prstGeom>
          <a:solidFill>
            <a:srgbClr val="00703C"/>
          </a:solidFill>
          <a:ln w="19050">
            <a:solidFill>
              <a:srgbClr val="007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Dermatology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645920"/>
            <a:ext cx="2011680" cy="73152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7 RCTs</a:t>
            </a:r>
            <a:br/>
            <a:r>
              <a:t>NON-INFERIOR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011680" cy="7315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3 RCTs</a:t>
            </a:r>
            <a:br/>
            <a:r>
              <a:t>MIXED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6459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5603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60320"/>
            <a:ext cx="2011680" cy="73152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7 RCTs</a:t>
            </a:r>
            <a:br/>
            <a:r>
              <a:t>EFFECTIVE (adults)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25603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4747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3474720"/>
            <a:ext cx="2011680" cy="7315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4 RCTs vs opioids</a:t>
            </a:r>
            <a:br/>
            <a:r>
              <a:t>*1 RCT vs LA block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43891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3891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4389120"/>
            <a:ext cx="2011680" cy="731520"/>
          </a:xfrm>
          <a:prstGeom prst="roundRect">
            <a:avLst/>
          </a:prstGeom>
          <a:solidFill>
            <a:srgbClr val="FFD9D9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3 RCTs</a:t>
            </a:r>
            <a:br/>
            <a:r>
              <a:t>PILOT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5303520"/>
            <a:ext cx="2011680" cy="73152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3 RCTs</a:t>
            </a:r>
            <a:br/>
            <a:r>
              <a:t>NON-INFERIOR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3035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53035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</a:defRPr>
            </a:pPr>
            <a:r>
              <a:t>Green = strong | Yellow = moderate/mixed | Red = pilot/limited | Grey = no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Table 1. Evidence Summary by Clinical Domain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  <a:gridCol w="758952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Studies</a:t>
                      </a:r>
                    </a:p>
                  </a:txBody>
                  <a:tcPr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RCTs</a:t>
                      </a:r>
                    </a:p>
                  </a:txBody>
                  <a:tcPr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0070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Dental/oral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 non-inferior to topical LA for pre-injection analgesia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Vascular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Vapocoolant effective in adults (SMD -0.65), not in children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Thoracic surgery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Cryoneurolysis reduces opioid use; 1 RCT vs LA nerve block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Orthopaedic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Pilot data for TKA; no comparison with LA nerve blocks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Dermatology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 comparable to EMLA; patient preference for ice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Table 2. Tiered Implementation Framework for LA Shortage Contingency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2011680"/>
                <a:gridCol w="3017520"/>
                <a:gridCol w="283464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Modality</a:t>
                      </a:r>
                    </a:p>
                  </a:txBody>
                  <a:tcPr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Readiness</a:t>
                      </a:r>
                    </a:p>
                  </a:txBody>
                  <a:tcPr>
                    <a:solidFill>
                      <a:srgbClr val="0070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 (Strong)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Dental pre-injection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 (2 min)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Multiple RCTs, 3 SRs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Immediate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 (Strong)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Adult venepuncture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Vapocoolant spray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SR/MA (25 RCTs)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Immediate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 (Moderate)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Dermatology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 packs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 RCT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Feasible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 (Moderate)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Thoracic surgery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Cryoneurolysis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 SRs, 4 RCTs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Equipment needed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 (Research)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Nerve block alternative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Cryoneurolysis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 pilot RCTs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Trials needed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Table 3. Recommended Research Priorities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2286000"/>
                <a:gridCol w="576072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Study Design</a:t>
                      </a:r>
                    </a:p>
                  </a:txBody>
                  <a:tcPr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Comparison</a:t>
                      </a:r>
                    </a:p>
                  </a:txBody>
                  <a:tcPr>
                    <a:solidFill>
                      <a:srgbClr val="0070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Pragmatic RCT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Thoracic surgery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Intercostal cryoneurolysis vs paravertebral block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Pragmatic RCT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Knee arthroplasty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Genicular cryoneurolysis vs adductor canal block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Pragmatic RCT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Rib fractures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Cryoneurolysis vs intercostal nerve block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Feasibility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Minor surgery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Cryoanalgesia for wound closure, biopsy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Health economic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System-level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Cost of cryoanalgesia vs shortage-related delays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